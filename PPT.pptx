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6576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04320" y="0"/>
            <a:ext cx="0" cy="685800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91195" y="2104783"/>
            <a:ext cx="12188952" cy="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554480"/>
            <a:ext cx="12188952" cy="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5212080"/>
            <a:ext cx="12188952" cy="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6126480"/>
            <a:ext cx="12188952" cy="0"/>
          </a:xfrm>
          <a:prstGeom prst="line">
            <a:avLst/>
          </a:prstGeom>
          <a:ln w="5080">
            <a:solidFill>
              <a:srgbClr val="162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58368" y="731520"/>
            <a:ext cx="100584" cy="5394960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960120"/>
            <a:ext cx="960120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8D2DC"/>
                </a:solidFill>
                <a:latin typeface="Aptos"/>
              </a:defRPr>
            </a:pPr>
            <a:r>
              <a:rPr dirty="0"/>
              <a:t>DBMS MINI PROJECT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1" y="1458467"/>
            <a:ext cx="9601200" cy="1417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3100" b="1">
                <a:solidFill>
                  <a:srgbClr val="F2F6FF"/>
                </a:solidFill>
                <a:latin typeface="Aptos"/>
              </a:defRPr>
            </a:pPr>
            <a:r>
              <a:rPr dirty="0"/>
              <a:t>Cybersecurity Incident</a:t>
            </a:r>
          </a:p>
          <a:p>
            <a:pPr>
              <a:spcAft>
                <a:spcPts val="300"/>
              </a:spcAft>
              <a:defRPr sz="3100" b="1">
                <a:solidFill>
                  <a:srgbClr val="F2F6FF"/>
                </a:solidFill>
                <a:latin typeface="Aptos"/>
              </a:defRPr>
            </a:pPr>
            <a:r>
              <a:rPr dirty="0"/>
              <a:t>&amp; Threat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1" y="2941248"/>
            <a:ext cx="8229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AABAD0"/>
                </a:solidFill>
                <a:latin typeface="Aptos"/>
              </a:defRPr>
            </a:pPr>
            <a:r>
              <a:rPr dirty="0"/>
              <a:t>A MySQL-based relational database to record, investigate and manage</a:t>
            </a:r>
          </a:p>
          <a:p>
            <a:pPr>
              <a:spcAft>
                <a:spcPts val="300"/>
              </a:spcAft>
              <a:defRPr sz="1500" b="0">
                <a:solidFill>
                  <a:srgbClr val="AABAD0"/>
                </a:solidFill>
                <a:latin typeface="Aptos"/>
              </a:defRPr>
            </a:pPr>
            <a:r>
              <a:rPr dirty="0"/>
              <a:t>cybersecurity incidents, threats, assets and response activities.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872" y="4160519"/>
            <a:ext cx="7092413" cy="1572743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235933"/>
            <a:ext cx="6565254" cy="134190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r>
              <a:rPr sz="1600" dirty="0">
                <a:solidFill>
                  <a:srgbClr val="E1EBF8"/>
                </a:solidFill>
              </a:rPr>
              <a:t>Presented by:</a:t>
            </a:r>
          </a:p>
          <a:p>
            <a:r>
              <a:rPr sz="1600" dirty="0">
                <a:solidFill>
                  <a:srgbClr val="E1EBF8"/>
                </a:solidFill>
              </a:rPr>
              <a:t>Abhinav Chavan — 1262251966</a:t>
            </a:r>
          </a:p>
          <a:p>
            <a:r>
              <a:rPr sz="1600" dirty="0" err="1">
                <a:solidFill>
                  <a:srgbClr val="E1EBF8"/>
                </a:solidFill>
              </a:rPr>
              <a:t>Krishnanunni</a:t>
            </a:r>
            <a:r>
              <a:rPr sz="1600" dirty="0">
                <a:solidFill>
                  <a:srgbClr val="E1EBF8"/>
                </a:solidFill>
              </a:rPr>
              <a:t> Kurup — 1262250827</a:t>
            </a:r>
          </a:p>
          <a:p>
            <a:r>
              <a:rPr sz="1600" dirty="0">
                <a:solidFill>
                  <a:srgbClr val="E1EBF8"/>
                </a:solidFill>
              </a:rPr>
              <a:t>Declan Po — 1262250688</a:t>
            </a:r>
          </a:p>
          <a:p>
            <a:r>
              <a:rPr sz="1600" dirty="0">
                <a:solidFill>
                  <a:srgbClr val="E1EBF8"/>
                </a:solidFill>
              </a:rPr>
              <a:t>Batch 1 • Division 13 • CSF Panel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t>Abstract &amp;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400" dirty="0"/>
              <a:t>What the project does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5394960" cy="1874519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50292" cy="1874519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51023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57984"/>
            <a:ext cx="5102352" cy="10956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The project uses MySQL to organize incident reports and connect them with reporters, analysts, threats, affected assets, evidence and response actions. SQL queries support investigation and reporting.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19072"/>
            <a:ext cx="5394960" cy="1874519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719072"/>
            <a:ext cx="50292" cy="1874519"/>
          </a:xfrm>
          <a:prstGeom prst="rect">
            <a:avLst/>
          </a:prstGeom>
          <a:solidFill>
            <a:srgbClr val="5A96FF"/>
          </a:solidFill>
          <a:ln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828800"/>
            <a:ext cx="51023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5A96FF"/>
                </a:solidFill>
                <a:latin typeface="Aptos"/>
              </a:defRPr>
            </a:pPr>
            <a:r>
              <a:rPr sz="1600" dirty="0"/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157984"/>
            <a:ext cx="5102352" cy="10956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Cybersecurity teams need a consistent way to record what happened, assess severity, assign responsibility and follow an incident through its lifecycle. A relational database provides structured, linked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36576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PROJECT 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91440" cy="91440"/>
          </a:xfrm>
          <a:prstGeom prst="roundRect">
            <a:avLst>
              <a:gd name="adj" fmla="val 12000"/>
            </a:avLst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407408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Centralize incident records and their current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46320"/>
            <a:ext cx="91440" cy="91440"/>
          </a:xfrm>
          <a:prstGeom prst="roundRect">
            <a:avLst>
              <a:gd name="adj" fmla="val 12000"/>
            </a:avLst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791456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rPr dirty="0"/>
              <a:t>Connect incidents to analysts, threats, assets and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303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175504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t>Use SQL queries and database objects to support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14416"/>
            <a:ext cx="91440" cy="91440"/>
          </a:xfrm>
          <a:prstGeom prst="roundRect">
            <a:avLst>
              <a:gd name="adj" fmla="val 12000"/>
            </a:avLst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5559552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F2F6FF"/>
                </a:solidFill>
                <a:latin typeface="Aptos"/>
              </a:defRPr>
            </a:pPr>
            <a:r>
              <a:rPr dirty="0"/>
              <a:t>Provide a foundation for a simple interactive frontend.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t>02 •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t>Problem Statement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From user-reported incident to response and 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108960" cy="141732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50292" cy="1417320"/>
          </a:xfrm>
          <a:prstGeom prst="rect">
            <a:avLst/>
          </a:prstGeom>
          <a:solidFill>
            <a:srgbClr val="FF697D"/>
          </a:solidFill>
          <a:ln>
            <a:solidFill>
              <a:srgbClr val="FF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28163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697D"/>
                </a:solidFill>
                <a:latin typeface="Aptos"/>
              </a:defRPr>
            </a:pPr>
            <a:r>
              <a:rPr sz="1600" dirty="0"/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0552"/>
            <a:ext cx="2816352" cy="8494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Scattered incident details make tracking, assignment and follow-up harder.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691640"/>
            <a:ext cx="3108960" cy="141732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86200" y="1691640"/>
            <a:ext cx="50292" cy="1417320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0791" y="1801368"/>
            <a:ext cx="28163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130552"/>
            <a:ext cx="2816352" cy="8494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One relational database connects incident data and related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91640"/>
            <a:ext cx="4389120" cy="141732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78040" y="1691640"/>
            <a:ext cx="50292" cy="1417320"/>
          </a:xfrm>
          <a:prstGeom prst="rect">
            <a:avLst/>
          </a:prstGeom>
          <a:solidFill>
            <a:srgbClr val="49DA9E"/>
          </a:solidFill>
          <a:ln>
            <a:solidFill>
              <a:srgbClr val="49D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2631" y="1801368"/>
            <a:ext cx="4096511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49DA9E"/>
                </a:solidFill>
                <a:latin typeface="Aptos"/>
              </a:defRPr>
            </a:pPr>
            <a:r>
              <a:rPr sz="1600" dirty="0"/>
              <a:t>EXPECTED 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2130552"/>
            <a:ext cx="4096511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More consistent records, easier reporting and clearer ownership.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2011680" cy="1298448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014215"/>
            <a:ext cx="320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D2DC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14215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407408"/>
            <a:ext cx="17373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User reports incident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14600" y="4526280"/>
            <a:ext cx="256032" cy="0"/>
          </a:xfrm>
          <a:prstGeom prst="line">
            <a:avLst/>
          </a:prstGeom>
          <a:ln w="20320">
            <a:solidFill>
              <a:srgbClr val="2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34639" y="3886200"/>
            <a:ext cx="2011680" cy="1298448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4014215"/>
            <a:ext cx="320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D2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014215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407408"/>
            <a:ext cx="17373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Severity / threat type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46320" y="4526280"/>
            <a:ext cx="256032" cy="0"/>
          </a:xfrm>
          <a:prstGeom prst="line">
            <a:avLst/>
          </a:prstGeom>
          <a:ln w="20320">
            <a:solidFill>
              <a:srgbClr val="2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66359" y="3886200"/>
            <a:ext cx="2011680" cy="1298448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76088" y="4014215"/>
            <a:ext cx="320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D2D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4014215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ASSIGN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5" y="4407408"/>
            <a:ext cx="17373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Security analyst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78040" y="4526280"/>
            <a:ext cx="256031" cy="0"/>
          </a:xfrm>
          <a:prstGeom prst="line">
            <a:avLst/>
          </a:prstGeom>
          <a:ln w="20320">
            <a:solidFill>
              <a:srgbClr val="2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98079" y="3886200"/>
            <a:ext cx="2011680" cy="1298448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07807" y="4014215"/>
            <a:ext cx="320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D2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014215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INVESTIGATE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4407408"/>
            <a:ext cx="17373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Evidence / comments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09759" y="4526280"/>
            <a:ext cx="256033" cy="0"/>
          </a:xfrm>
          <a:prstGeom prst="line">
            <a:avLst/>
          </a:prstGeom>
          <a:ln w="20320">
            <a:solidFill>
              <a:srgbClr val="28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29800" y="3886200"/>
            <a:ext cx="2011680" cy="1298448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9528" y="4014215"/>
            <a:ext cx="320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8D2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4014215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RESPOND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7816" y="4407408"/>
            <a:ext cx="17373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Action / status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23560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49DA9E"/>
                </a:solidFill>
                <a:latin typeface="Aptos"/>
              </a:defRPr>
            </a:pPr>
            <a:r>
              <a:t>Example lifecycle: OPEN  →  INVESTIGATING  →  RESOLVED /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t>03 •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t>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Simplified presentation view — confirm relationships against your final SQL foreign keys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126480"/>
            <a:ext cx="109728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AABAD0"/>
                </a:solidFill>
                <a:latin typeface="Aptos"/>
              </a:defRPr>
            </a:pPr>
            <a:r>
              <a:t>Junction tables: INCIDENT_THREATS links Incidents ↔ Threats; INCIDENT_ASSETS links Incidents ↔ Assets.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B6722E4-CFC2-675C-82C5-3C430246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3" y="1682496"/>
            <a:ext cx="1117396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t>04 •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rPr dirty="0"/>
              <a:t>Table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49240" cy="1664208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01368"/>
            <a:ext cx="4937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8D2DC"/>
                </a:solidFill>
                <a:latin typeface="Aptos"/>
              </a:defRPr>
            </a:pPr>
            <a:r>
              <a:t>USERS &amp;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30552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Users — PK user_id, name, email,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78024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Security_Analysts — PK analyst_id, name, email, specialization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1664208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801368"/>
            <a:ext cx="4937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8D2DC"/>
                </a:solidFill>
                <a:latin typeface="Aptos"/>
              </a:defRPr>
            </a:pPr>
            <a:r>
              <a:t>INCIDENT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30552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Incidents — PK incident_id; FK reported_by, assigned_to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78024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Incident_Comments — PK comment_id; FK incident_id, user_id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825496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Response_Actions — PK action_id; FK incident_id, performed_by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03320"/>
            <a:ext cx="5349240" cy="1664208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813048"/>
            <a:ext cx="4937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8D2DC"/>
                </a:solidFill>
                <a:latin typeface="Aptos"/>
              </a:defRPr>
            </a:pPr>
            <a:r>
              <a:t>THREATS &amp;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142231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Threats — PK threat_id, threat_name, threat_level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489703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Threat_Categories — PK category_id, category_name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837175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Assets — PK asset_id, asset_name, asset_type, ip_address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349240" cy="1664208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813048"/>
            <a:ext cx="4937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28D2DC"/>
                </a:solidFill>
                <a:latin typeface="Aptos"/>
              </a:defRPr>
            </a:pPr>
            <a:r>
              <a:t>LINKS &amp;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142231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Incident_Threats — composite PK: incident_id + threat_id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89703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Incident_Assets — composite PK: incident_id + asset_id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837175"/>
            <a:ext cx="5029200" cy="283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F2F6FF"/>
                </a:solidFill>
                <a:latin typeface="Aptos"/>
              </a:defRPr>
            </a:pPr>
            <a:r>
              <a:t>• Evidence — PK evidence_id; FK incident_id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10698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t>Design note: junction tables model many-to-many relationships; foreign keys help preserve referential integrity.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DE05E69-025B-5036-6B5A-EDB612A9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0680"/>
            <a:ext cx="11094720" cy="455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• SQL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rPr dirty="0"/>
              <a:t>Queries &amp; DBMS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Representative examples from the project query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0292" cy="1600200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SELECT + 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Filter critical incidents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WHERE severity = 'CRITICAL</a:t>
            </a:r>
            <a:r>
              <a:rPr dirty="0"/>
              <a:t>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50292" cy="1600200"/>
          </a:xfrm>
          <a:prstGeom prst="rect">
            <a:avLst/>
          </a:prstGeom>
          <a:solidFill>
            <a:srgbClr val="5A96FF"/>
          </a:solidFill>
          <a:ln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84708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5A96FF"/>
                </a:solidFill>
                <a:latin typeface="Aptos"/>
              </a:defRPr>
            </a:pPr>
            <a:r>
              <a:rPr sz="1600" dirty="0"/>
              <a:t>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176272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Show assigned analyst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Incidents JOIN </a:t>
            </a:r>
            <a:r>
              <a:rPr sz="1600" dirty="0" err="1"/>
              <a:t>Security_Analysts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8275320" y="173736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737360"/>
            <a:ext cx="50292" cy="1600200"/>
          </a:xfrm>
          <a:prstGeom prst="rect">
            <a:avLst/>
          </a:prstGeom>
          <a:solidFill>
            <a:srgbClr val="49DA9E"/>
          </a:solidFill>
          <a:ln>
            <a:solidFill>
              <a:srgbClr val="49D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84708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49DA9E"/>
                </a:solidFill>
                <a:latin typeface="Aptos"/>
              </a:defRPr>
            </a:pPr>
            <a:r>
              <a:rPr sz="1600" dirty="0"/>
              <a:t>NESTED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176272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Find phishing-related incidents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IN (SELECT ... FROM Threats ...)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703320"/>
            <a:ext cx="50292" cy="1600200"/>
          </a:xfrm>
          <a:prstGeom prst="rect">
            <a:avLst/>
          </a:prstGeom>
          <a:solidFill>
            <a:srgbClr val="FFB950"/>
          </a:solidFill>
          <a:ln>
            <a:solidFill>
              <a:srgbClr val="F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81304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B950"/>
                </a:solidFill>
                <a:latin typeface="Aptos"/>
              </a:defRPr>
            </a:pPr>
            <a:r>
              <a:rPr sz="1600" dirty="0"/>
              <a:t>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142231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Count incidents by severity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COUNT(*) + GROUP BY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0332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703320"/>
            <a:ext cx="50292" cy="1600200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2" y="381304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MULTI-JOIN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142231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Incident + threat + asset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Use junction tables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0332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703320"/>
            <a:ext cx="50292" cy="1600200"/>
          </a:xfrm>
          <a:prstGeom prst="rect">
            <a:avLst/>
          </a:prstGeom>
          <a:solidFill>
            <a:srgbClr val="5A96FF"/>
          </a:solidFill>
          <a:ln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3813048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5A96FF"/>
                </a:solidFill>
                <a:latin typeface="Aptos"/>
              </a:defRPr>
            </a:pPr>
            <a:r>
              <a:rPr sz="1600" dirty="0"/>
              <a:t>UPDATE / 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142231"/>
            <a:ext cx="3227832" cy="64171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Maintain records</a:t>
            </a:r>
          </a:p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Change status / remove test record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•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t>Query Snapshot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The result grids below are clearly illustrative; replace them with genuine Workbench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577840" cy="4526280"/>
          </a:xfrm>
          <a:prstGeom prst="roundRect">
            <a:avLst>
              <a:gd name="adj" fmla="val 12000"/>
            </a:avLst>
          </a:prstGeom>
          <a:solidFill>
            <a:srgbClr val="050A14"/>
          </a:solidFill>
          <a:ln>
            <a:solidFill>
              <a:srgbClr val="5C6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56231"/>
            <a:ext cx="51206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28D2DC"/>
                </a:solidFill>
                <a:latin typeface="Aptos"/>
              </a:defRPr>
            </a:pPr>
            <a:r>
              <a:rPr sz="1400" dirty="0"/>
              <a:t>QUERY A • INCIDENTS WITH ASSIGNED ANALYSTS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074920" cy="1780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SELECT </a:t>
            </a:r>
            <a:r>
              <a:rPr sz="1600" dirty="0" err="1"/>
              <a:t>i.incident_id</a:t>
            </a:r>
            <a:r>
              <a:rPr sz="1600" dirty="0"/>
              <a:t>, </a:t>
            </a:r>
            <a:r>
              <a:rPr sz="1600" dirty="0" err="1"/>
              <a:t>i.title</a:t>
            </a:r>
            <a:r>
              <a:rPr sz="1600" dirty="0"/>
              <a:t>,</a:t>
            </a:r>
          </a:p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       </a:t>
            </a:r>
            <a:r>
              <a:rPr sz="1600" dirty="0" err="1"/>
              <a:t>i.severity</a:t>
            </a:r>
            <a:r>
              <a:rPr sz="1600" dirty="0"/>
              <a:t>, a.name AS analyst</a:t>
            </a:r>
          </a:p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FROM Incidents </a:t>
            </a:r>
            <a:r>
              <a:rPr sz="1600" dirty="0" err="1"/>
              <a:t>i</a:t>
            </a:r>
            <a:endParaRPr sz="1600" dirty="0"/>
          </a:p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JOIN </a:t>
            </a:r>
            <a:r>
              <a:rPr sz="1600" dirty="0" err="1"/>
              <a:t>Security_Analysts</a:t>
            </a:r>
            <a:r>
              <a:rPr sz="1600" dirty="0"/>
              <a:t> a</a:t>
            </a:r>
          </a:p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  ON </a:t>
            </a:r>
            <a:r>
              <a:rPr sz="1600" dirty="0" err="1"/>
              <a:t>i.assigned_to</a:t>
            </a:r>
            <a:r>
              <a:rPr sz="1600" dirty="0"/>
              <a:t> = </a:t>
            </a:r>
            <a:r>
              <a:rPr sz="1600" dirty="0" err="1"/>
              <a:t>a.analyst_id</a:t>
            </a:r>
            <a:endParaRPr sz="1600" dirty="0"/>
          </a:p>
          <a:p>
            <a:pPr>
              <a:spcAft>
                <a:spcPts val="300"/>
              </a:spcAft>
              <a:defRPr sz="1250" b="0">
                <a:solidFill>
                  <a:srgbClr val="F2F6FF"/>
                </a:solidFill>
                <a:latin typeface="Consolas"/>
              </a:defRPr>
            </a:pPr>
            <a:r>
              <a:rPr sz="1600" dirty="0"/>
              <a:t>ORDER BY </a:t>
            </a:r>
            <a:r>
              <a:rPr sz="1600" dirty="0" err="1"/>
              <a:t>i.detected_at</a:t>
            </a:r>
            <a:r>
              <a:rPr sz="1600" dirty="0"/>
              <a:t> DESC;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49240" cy="4526280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F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856231"/>
            <a:ext cx="484632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FB950"/>
                </a:solidFill>
                <a:latin typeface="Aptos"/>
              </a:defRPr>
            </a:pPr>
            <a:r>
              <a:t>EXECUTION RESULT • SAMPLE LAYOUT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286000"/>
            <a:ext cx="4800600" cy="393192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3591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1">
                <a:solidFill>
                  <a:srgbClr val="28D2DC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59152"/>
            <a:ext cx="1828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1">
                <a:solidFill>
                  <a:srgbClr val="28D2DC"/>
                </a:solidFill>
                <a:latin typeface="Aptos"/>
              </a:defRPr>
            </a:pPr>
            <a: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591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1">
                <a:solidFill>
                  <a:srgbClr val="28D2DC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359152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1">
                <a:solidFill>
                  <a:srgbClr val="28D2DC"/>
                </a:solidFill>
                <a:latin typeface="Aptos"/>
              </a:defRPr>
            </a:pPr>
            <a:r>
              <a:t>ANALYST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724912"/>
            <a:ext cx="4800600" cy="438912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8163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16352"/>
            <a:ext cx="1828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Phishing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16352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816352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Analyst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255264"/>
            <a:ext cx="4800600" cy="438912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34670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346704"/>
            <a:ext cx="1828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Malware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46704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346704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Analyst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85615"/>
            <a:ext cx="4800600" cy="438912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877055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77055"/>
            <a:ext cx="1828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Suspicious 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877055"/>
            <a:ext cx="914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877055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30" b="0">
                <a:solidFill>
                  <a:srgbClr val="F2F6FF"/>
                </a:solidFill>
                <a:latin typeface="Aptos"/>
              </a:defRPr>
            </a:pPr>
            <a:r>
              <a:t>Analyst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63440"/>
            <a:ext cx="470916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FFB950"/>
                </a:solidFill>
                <a:latin typeface="Aptos"/>
              </a:defRPr>
            </a:pPr>
            <a:r>
              <a:t>Replace this sample grid with a screenshot of your real SQL query and result grid.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7899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AABAD0"/>
                </a:solidFill>
                <a:latin typeface="Aptos"/>
              </a:defRPr>
            </a:pPr>
            <a:r>
              <a:t>Screenshot tip: capture both the SQL editor and the result grid at readable zoom.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365759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 dirty="0">
                <a:solidFill>
                  <a:srgbClr val="EFF5FC"/>
                </a:solidFill>
              </a:rPr>
              <a:t>Database Tables — SHOW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62861"/>
            <a:ext cx="51859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>
                <a:solidFill>
                  <a:srgbClr val="EFF5FC"/>
                </a:solidFill>
              </a:rPr>
              <a:t>MySQL command-line screenshot from the supplied report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0" y="1298447"/>
            <a:ext cx="11554692" cy="50383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446810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 dirty="0">
                <a:solidFill>
                  <a:srgbClr val="EFF5FC"/>
                </a:solidFill>
              </a:rPr>
              <a:t>JOIN Query — Incidents with Reporters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22298"/>
            <a:ext cx="52136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>
                <a:solidFill>
                  <a:srgbClr val="EFF5FC"/>
                </a:solidFill>
              </a:rPr>
              <a:t>The query connects </a:t>
            </a:r>
            <a:r>
              <a:rPr sz="1600" b="1" dirty="0" err="1">
                <a:solidFill>
                  <a:srgbClr val="EFF5FC"/>
                </a:solidFill>
              </a:rPr>
              <a:t>Incidents.reported_by</a:t>
            </a:r>
            <a:r>
              <a:rPr sz="1600" b="1" dirty="0">
                <a:solidFill>
                  <a:srgbClr val="EFF5FC"/>
                </a:solidFill>
              </a:rPr>
              <a:t> to </a:t>
            </a:r>
            <a:r>
              <a:rPr sz="1600" b="1" dirty="0" err="1">
                <a:solidFill>
                  <a:srgbClr val="EFF5FC"/>
                </a:solidFill>
              </a:rPr>
              <a:t>Users.user_id</a:t>
            </a:r>
            <a:endParaRPr sz="1600" b="1" dirty="0">
              <a:solidFill>
                <a:srgbClr val="EFF5FC"/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16" y="1344393"/>
            <a:ext cx="11633662" cy="5066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>
                <a:solidFill>
                  <a:srgbClr val="EFF5FC"/>
                </a:solidFill>
              </a:rPr>
              <a:t>JOIN Query — Incidents with Assigned Analysts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4456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>
                <a:solidFill>
                  <a:srgbClr val="EFF5FC"/>
                </a:solidFill>
              </a:rPr>
              <a:t>The query connects </a:t>
            </a:r>
            <a:r>
              <a:rPr sz="1600" b="1" dirty="0" err="1">
                <a:solidFill>
                  <a:srgbClr val="EFF5FC"/>
                </a:solidFill>
              </a:rPr>
              <a:t>Incidents.assigned_to</a:t>
            </a:r>
            <a:r>
              <a:rPr sz="1600" b="1" dirty="0">
                <a:solidFill>
                  <a:srgbClr val="EFF5FC"/>
                </a:solidFill>
              </a:rPr>
              <a:t> to </a:t>
            </a:r>
            <a:r>
              <a:rPr sz="1600" b="1" dirty="0" err="1">
                <a:solidFill>
                  <a:srgbClr val="EFF5FC"/>
                </a:solidFill>
              </a:rPr>
              <a:t>Security_Analysts.analyst_id</a:t>
            </a:r>
            <a:endParaRPr sz="1600" b="1" dirty="0">
              <a:solidFill>
                <a:srgbClr val="EFF5FC"/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2" y="1307593"/>
            <a:ext cx="11544300" cy="467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>
                <a:solidFill>
                  <a:srgbClr val="EFF5FC"/>
                </a:solidFill>
              </a:rPr>
              <a:t>Stored Procedure with Cursor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1499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 err="1">
                <a:solidFill>
                  <a:srgbClr val="EFF5FC"/>
                </a:solidFill>
              </a:rPr>
              <a:t>Generate_Analyst_Report</a:t>
            </a:r>
            <a:r>
              <a:rPr sz="1600" b="1" dirty="0">
                <a:solidFill>
                  <a:srgbClr val="EFF5FC"/>
                </a:solidFill>
              </a:rPr>
              <a:t>(1) returns incidents assigned to analyst ID 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33" y="1344394"/>
            <a:ext cx="11627427" cy="4814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>
                <a:solidFill>
                  <a:srgbClr val="EFF5FC"/>
                </a:solidFill>
              </a:rPr>
              <a:t>Incident Status Trigger — Resolution Timestamp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4300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>
                <a:solidFill>
                  <a:srgbClr val="EFF5FC"/>
                </a:solidFill>
              </a:rPr>
              <a:t>The trigger sets </a:t>
            </a:r>
            <a:r>
              <a:rPr sz="1600" b="1" dirty="0" err="1">
                <a:solidFill>
                  <a:srgbClr val="EFF5FC"/>
                </a:solidFill>
              </a:rPr>
              <a:t>resolved_at</a:t>
            </a:r>
            <a:r>
              <a:rPr sz="1600" b="1" dirty="0">
                <a:solidFill>
                  <a:srgbClr val="EFF5FC"/>
                </a:solidFill>
              </a:rPr>
              <a:t> when status changes to RESOLVED or CLOSED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8" y="1298448"/>
            <a:ext cx="11637818" cy="4736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38912" y="1353312"/>
            <a:ext cx="11292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5B91"/>
                </a:solidFill>
              </a:defRPr>
            </a:pPr>
            <a:r>
              <a:rPr dirty="0">
                <a:solidFill>
                  <a:srgbClr val="2E7ECF"/>
                </a:solidFill>
              </a:rPr>
              <a:t>15 • FUNCTION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21207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B4B"/>
                </a:solidFill>
              </a:defRPr>
            </a:pPr>
            <a:r>
              <a:rPr b="1">
                <a:solidFill>
                  <a:srgbClr val="EFF5FC"/>
                </a:solidFill>
              </a:rPr>
              <a:t>Calculate Incident Risk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3570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1600" b="1" dirty="0">
                <a:solidFill>
                  <a:srgbClr val="EFF5FC"/>
                </a:solidFill>
              </a:rPr>
              <a:t>The function combines severity and threat level into a numeric risk score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9" y="1307592"/>
            <a:ext cx="11668991" cy="462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565392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978"/>
                </a:solidFill>
              </a:defRPr>
            </a:pPr>
            <a:r>
              <a:rPr>
                <a:solidFill>
                  <a:srgbClr val="B4C4D7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28D2DC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106424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2F6FF"/>
                </a:solidFill>
                <a:latin typeface="Aptos"/>
              </a:defRPr>
            </a:pPr>
            <a:r>
              <a:t>Conclusion, Future Improvements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Final takeaways and possible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0" cy="41148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0292" cy="1874519"/>
          </a:xfrm>
          <a:prstGeom prst="rect">
            <a:avLst/>
          </a:prstGeom>
          <a:solidFill>
            <a:srgbClr val="28D2DC"/>
          </a:solidFill>
          <a:ln>
            <a:solidFill>
              <a:srgbClr val="2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73936"/>
            <a:ext cx="32735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03120"/>
            <a:ext cx="3273552" cy="10956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13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The project organizes cybersecurity records in a relational model and demonstrates core SQL and database programming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50292" cy="1874519"/>
          </a:xfrm>
          <a:prstGeom prst="rect">
            <a:avLst/>
          </a:prstGeom>
          <a:solidFill>
            <a:srgbClr val="5A96FF"/>
          </a:solidFill>
          <a:ln>
            <a:solidFill>
              <a:srgbClr val="5A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773936"/>
            <a:ext cx="32735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5A96FF"/>
                </a:solidFill>
                <a:latin typeface="Aptos"/>
              </a:defRPr>
            </a:pPr>
            <a:r>
              <a:rPr sz="1600" dirty="0"/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103120"/>
            <a:ext cx="3273552" cy="121110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Login and role-based access</a:t>
            </a:r>
          </a:p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Real-time alerts / notifications</a:t>
            </a:r>
          </a:p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Dashboard charts and filters</a:t>
            </a:r>
          </a:p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Import logs and attach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664208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664208"/>
            <a:ext cx="50292" cy="1874519"/>
          </a:xfrm>
          <a:prstGeom prst="rect">
            <a:avLst/>
          </a:prstGeom>
          <a:solidFill>
            <a:srgbClr val="49DA9E"/>
          </a:solidFill>
          <a:ln>
            <a:solidFill>
              <a:srgbClr val="49D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73936"/>
            <a:ext cx="32735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49DA9E"/>
                </a:solidFill>
                <a:latin typeface="Aptos"/>
              </a:defRPr>
            </a:pPr>
            <a:r>
              <a:rPr sz="1600" dirty="0"/>
              <a:t>APPLICATION EXTENSIONS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03120"/>
            <a:ext cx="3273552" cy="11726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Audit trail and analyst workload</a:t>
            </a:r>
          </a:p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Search and export reports</a:t>
            </a:r>
          </a:p>
          <a:p>
            <a:pPr>
              <a:spcAft>
                <a:spcPts val="300"/>
              </a:spcAft>
              <a:defRPr sz="1070" b="0">
                <a:solidFill>
                  <a:srgbClr val="F2F6FF"/>
                </a:solidFill>
                <a:latin typeface="Aptos"/>
              </a:defRPr>
            </a:pPr>
            <a:r>
              <a:rPr sz="1600" dirty="0"/>
              <a:t>• Validation and secure input handling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10789920" cy="960120"/>
          </a:xfrm>
          <a:prstGeom prst="roundRect">
            <a:avLst>
              <a:gd name="adj" fmla="val 12000"/>
            </a:avLst>
          </a:prstGeom>
          <a:solidFill>
            <a:srgbClr val="1C2D49"/>
          </a:solidFill>
          <a:ln>
            <a:solidFill>
              <a:srgbClr val="1C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2412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250" b="1">
                <a:solidFill>
                  <a:srgbClr val="F2F6FF"/>
                </a:solidFill>
                <a:latin typeface="Aptos"/>
              </a:defRPr>
            </a:pPr>
            <a:r>
              <a:rPr sz="1600" dirty="0"/>
              <a:t>LIVE DEMO: Show tables → run JOIN → run aggregate → call procedure/function → verify 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0368"/>
            <a:ext cx="106070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28D2DC"/>
                </a:solidFill>
                <a:latin typeface="Aptos"/>
              </a:defRPr>
            </a:pPr>
            <a:r>
              <a:rPr sz="1600" dirty="0"/>
              <a:t>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515600" cy="9264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1. MySQL 8.0 Reference Manual — dev.mysql.com/doc/</a:t>
            </a:r>
          </a:p>
          <a:p>
            <a:pPr>
              <a:spcAft>
                <a:spcPts val="300"/>
              </a:spcAft>
              <a:defRPr sz="9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2. Course DBMS syllabus / project brief supplied by faculty</a:t>
            </a:r>
          </a:p>
          <a:p>
            <a:pPr>
              <a:spcAft>
                <a:spcPts val="300"/>
              </a:spcAft>
              <a:defRPr sz="950" b="0">
                <a:solidFill>
                  <a:srgbClr val="AABAD0"/>
                </a:solidFill>
                <a:latin typeface="Aptos"/>
              </a:defRPr>
            </a:pPr>
            <a:r>
              <a:rPr sz="1600" dirty="0"/>
              <a:t>3. Project schema and SQL query set developed for this mini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19672"/>
            <a:ext cx="5943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AABAD0"/>
                </a:solidFill>
                <a:latin typeface="Aptos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983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Declan Po</cp:lastModifiedBy>
  <cp:revision>6</cp:revision>
  <dcterms:created xsi:type="dcterms:W3CDTF">2013-01-27T09:14:16Z</dcterms:created>
  <dcterms:modified xsi:type="dcterms:W3CDTF">2026-10-14T17:23:29Z</dcterms:modified>
  <cp:category/>
</cp:coreProperties>
</file>